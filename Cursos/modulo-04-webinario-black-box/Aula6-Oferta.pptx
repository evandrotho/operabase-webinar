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1pPr>
    <a:lvl2pPr marL="0" marR="0" indent="228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2pPr>
    <a:lvl3pPr marL="0" marR="0" indent="457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3pPr>
    <a:lvl4pPr marL="0" marR="0" indent="685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4pPr>
    <a:lvl5pPr marL="0" marR="0" indent="9144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5pPr>
    <a:lvl6pPr marL="0" marR="0" indent="11430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6pPr>
    <a:lvl7pPr marL="0" marR="0" indent="1371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7pPr>
    <a:lvl8pPr marL="0" marR="0" indent="1600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8pPr>
    <a:lvl9pPr marL="0" marR="0" indent="1828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 b="def" i="def"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 b="def" i="def"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1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/Relationships>
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7" name="Shape 11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1" showMasterPhAnim="1">
  <p:cSld name="Título e Sub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o do Título"/>
          <p:cNvSpPr/>
          <p:nvPr>
            <p:ph type="title"/>
          </p:nvPr>
        </p:nvSpPr>
        <p:spPr>
          <a:xfrm>
            <a:off x="4833937" y="2303859"/>
            <a:ext cx="14716126" cy="4643438"/>
          </a:xfrm>
          <a:prstGeom prst="rect">
            <a:avLst/>
          </a:prstGeom>
        </p:spPr>
        <p:txBody>
          <a:bodyPr anchor="b"/>
          <a:lstStyle/>
          <a:p>
            <a:pPr/>
            <a:r>
              <a:t>Texto do Título</a:t>
            </a:r>
          </a:p>
        </p:txBody>
      </p:sp>
      <p:sp>
        <p:nvSpPr>
          <p:cNvPr id="12" name="Nível de Corpo Um…"/>
          <p:cNvSpPr/>
          <p:nvPr>
            <p:ph type="body" sz="quarter" idx="1"/>
          </p:nvPr>
        </p:nvSpPr>
        <p:spPr>
          <a:xfrm>
            <a:off x="4833937" y="7072312"/>
            <a:ext cx="14716126" cy="1589485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4400"/>
            </a:lvl1pPr>
            <a:lvl2pPr marL="0" indent="228600" algn="ctr">
              <a:spcBef>
                <a:spcPts val="0"/>
              </a:spcBef>
              <a:buSzTx/>
              <a:buNone/>
              <a:defRPr sz="4400"/>
            </a:lvl2pPr>
            <a:lvl3pPr marL="0" indent="457200" algn="ctr">
              <a:spcBef>
                <a:spcPts val="0"/>
              </a:spcBef>
              <a:buSzTx/>
              <a:buNone/>
              <a:defRPr sz="4400"/>
            </a:lvl3pPr>
            <a:lvl4pPr marL="0" indent="685800" algn="ctr">
              <a:spcBef>
                <a:spcPts val="0"/>
              </a:spcBef>
              <a:buSzTx/>
              <a:buNone/>
              <a:defRPr sz="4400"/>
            </a:lvl4pPr>
            <a:lvl5pPr marL="0" indent="914400" algn="ctr">
              <a:spcBef>
                <a:spcPts val="0"/>
              </a:spcBef>
              <a:buSzTx/>
              <a:buNone/>
              <a:defRPr sz="4400"/>
            </a:lvl5pPr>
          </a:lstStyle>
          <a:p>
            <a:pPr/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13" name="Número do Slide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F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Imagem"/>
          <p:cNvSpPr/>
          <p:nvPr>
            <p:ph type="pic" sz="half" idx="13"/>
          </p:nvPr>
        </p:nvSpPr>
        <p:spPr>
          <a:xfrm>
            <a:off x="5307210" y="892968"/>
            <a:ext cx="13751720" cy="832247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21" name="Texto do Título"/>
          <p:cNvSpPr/>
          <p:nvPr>
            <p:ph type="title"/>
          </p:nvPr>
        </p:nvSpPr>
        <p:spPr>
          <a:xfrm>
            <a:off x="4833937" y="9447609"/>
            <a:ext cx="14716126" cy="2000251"/>
          </a:xfrm>
          <a:prstGeom prst="rect">
            <a:avLst/>
          </a:prstGeom>
        </p:spPr>
        <p:txBody>
          <a:bodyPr anchor="b"/>
          <a:lstStyle/>
          <a:p>
            <a:pPr/>
            <a:r>
              <a:t>Texto do Título</a:t>
            </a:r>
          </a:p>
        </p:txBody>
      </p:sp>
      <p:sp>
        <p:nvSpPr>
          <p:cNvPr id="22" name="Nível de Corpo Um…"/>
          <p:cNvSpPr/>
          <p:nvPr>
            <p:ph type="body" sz="quarter" idx="1"/>
          </p:nvPr>
        </p:nvSpPr>
        <p:spPr>
          <a:xfrm>
            <a:off x="4833937" y="11519296"/>
            <a:ext cx="14716126" cy="1589486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4400"/>
            </a:lvl1pPr>
            <a:lvl2pPr marL="0" indent="228600" algn="ctr">
              <a:spcBef>
                <a:spcPts val="0"/>
              </a:spcBef>
              <a:buSzTx/>
              <a:buNone/>
              <a:defRPr sz="4400"/>
            </a:lvl2pPr>
            <a:lvl3pPr marL="0" indent="457200" algn="ctr">
              <a:spcBef>
                <a:spcPts val="0"/>
              </a:spcBef>
              <a:buSzTx/>
              <a:buNone/>
              <a:defRPr sz="4400"/>
            </a:lvl3pPr>
            <a:lvl4pPr marL="0" indent="685800" algn="ctr">
              <a:spcBef>
                <a:spcPts val="0"/>
              </a:spcBef>
              <a:buSzTx/>
              <a:buNone/>
              <a:defRPr sz="4400"/>
            </a:lvl4pPr>
            <a:lvl5pPr marL="0" indent="914400" algn="ctr">
              <a:spcBef>
                <a:spcPts val="0"/>
              </a:spcBef>
              <a:buSzTx/>
              <a:buNone/>
              <a:defRPr sz="4400"/>
            </a:lvl5pPr>
          </a:lstStyle>
          <a:p>
            <a:pPr/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23" name="Número do Slide"/>
          <p:cNvSpPr/>
          <p:nvPr>
            <p:ph type="sldNum" sz="quarter" idx="2"/>
          </p:nvPr>
        </p:nvSpPr>
        <p:spPr>
          <a:xfrm>
            <a:off x="11935814" y="13001625"/>
            <a:ext cx="494513" cy="511175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Título - Ce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o do Título"/>
          <p:cNvSpPr/>
          <p:nvPr>
            <p:ph type="title"/>
          </p:nvPr>
        </p:nvSpPr>
        <p:spPr>
          <a:xfrm>
            <a:off x="4833937" y="4536281"/>
            <a:ext cx="14716126" cy="4643438"/>
          </a:xfrm>
          <a:prstGeom prst="rect">
            <a:avLst/>
          </a:prstGeom>
        </p:spPr>
        <p:txBody>
          <a:bodyPr/>
          <a:lstStyle/>
          <a:p>
            <a:pPr/>
            <a:r>
              <a:t>Texto do Título</a:t>
            </a:r>
          </a:p>
        </p:txBody>
      </p:sp>
      <p:sp>
        <p:nvSpPr>
          <p:cNvPr id="31" name="Número do Slide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F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magem"/>
          <p:cNvSpPr/>
          <p:nvPr>
            <p:ph type="pic" sz="half" idx="13"/>
          </p:nvPr>
        </p:nvSpPr>
        <p:spPr>
          <a:xfrm>
            <a:off x="12495609" y="892968"/>
            <a:ext cx="7500938" cy="11572876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39" name="Texto do Título"/>
          <p:cNvSpPr/>
          <p:nvPr>
            <p:ph type="title"/>
          </p:nvPr>
        </p:nvSpPr>
        <p:spPr>
          <a:xfrm>
            <a:off x="4387453" y="892968"/>
            <a:ext cx="7500938" cy="5607845"/>
          </a:xfrm>
          <a:prstGeom prst="rect">
            <a:avLst/>
          </a:prstGeom>
        </p:spPr>
        <p:txBody>
          <a:bodyPr anchor="b"/>
          <a:lstStyle>
            <a:lvl1pPr>
              <a:defRPr sz="8400"/>
            </a:lvl1pPr>
          </a:lstStyle>
          <a:p>
            <a:pPr/>
            <a:r>
              <a:t>Texto do Título</a:t>
            </a:r>
          </a:p>
        </p:txBody>
      </p:sp>
      <p:sp>
        <p:nvSpPr>
          <p:cNvPr id="40" name="Nível de Corpo Um…"/>
          <p:cNvSpPr/>
          <p:nvPr>
            <p:ph type="body" sz="quarter" idx="1"/>
          </p:nvPr>
        </p:nvSpPr>
        <p:spPr>
          <a:xfrm>
            <a:off x="4387453" y="6697265"/>
            <a:ext cx="7500938" cy="5768579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4400"/>
            </a:lvl1pPr>
            <a:lvl2pPr marL="0" indent="228600" algn="ctr">
              <a:spcBef>
                <a:spcPts val="0"/>
              </a:spcBef>
              <a:buSzTx/>
              <a:buNone/>
              <a:defRPr sz="4400"/>
            </a:lvl2pPr>
            <a:lvl3pPr marL="0" indent="457200" algn="ctr">
              <a:spcBef>
                <a:spcPts val="0"/>
              </a:spcBef>
              <a:buSzTx/>
              <a:buNone/>
              <a:defRPr sz="4400"/>
            </a:lvl3pPr>
            <a:lvl4pPr marL="0" indent="685800" algn="ctr">
              <a:spcBef>
                <a:spcPts val="0"/>
              </a:spcBef>
              <a:buSzTx/>
              <a:buNone/>
              <a:defRPr sz="4400"/>
            </a:lvl4pPr>
            <a:lvl5pPr marL="0" indent="914400" algn="ctr">
              <a:spcBef>
                <a:spcPts val="0"/>
              </a:spcBef>
              <a:buSzTx/>
              <a:buNone/>
              <a:defRPr sz="4400"/>
            </a:lvl5pPr>
          </a:lstStyle>
          <a:p>
            <a:pPr/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41" name="Número do Slide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Título - Sup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o do Título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Texto do Título</a:t>
            </a:r>
          </a:p>
        </p:txBody>
      </p:sp>
      <p:sp>
        <p:nvSpPr>
          <p:cNvPr id="49" name="Número do Slide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Título e Marcado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o do Título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Texto do Título</a:t>
            </a:r>
          </a:p>
        </p:txBody>
      </p:sp>
      <p:sp>
        <p:nvSpPr>
          <p:cNvPr id="57" name="Nível de Corpo Um…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58" name="Número do Slide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Título, Marcadores e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Imagem"/>
          <p:cNvSpPr/>
          <p:nvPr>
            <p:ph type="pic" sz="quarter" idx="13"/>
          </p:nvPr>
        </p:nvSpPr>
        <p:spPr>
          <a:xfrm>
            <a:off x="12495609" y="3661171"/>
            <a:ext cx="7500938" cy="8840392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66" name="Texto do Título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Texto do Título</a:t>
            </a:r>
          </a:p>
        </p:txBody>
      </p:sp>
      <p:sp>
        <p:nvSpPr>
          <p:cNvPr id="67" name="Nível de Corpo Um…"/>
          <p:cNvSpPr/>
          <p:nvPr>
            <p:ph type="body" sz="quarter" idx="1"/>
          </p:nvPr>
        </p:nvSpPr>
        <p:spPr>
          <a:xfrm>
            <a:off x="4387453" y="3661171"/>
            <a:ext cx="7500938" cy="8840392"/>
          </a:xfrm>
          <a:prstGeom prst="rect">
            <a:avLst/>
          </a:prstGeom>
        </p:spPr>
        <p:txBody>
          <a:bodyPr/>
          <a:lstStyle>
            <a:lvl1pPr marL="465364" indent="-465364">
              <a:spcBef>
                <a:spcPts val="4500"/>
              </a:spcBef>
              <a:defRPr sz="3800"/>
            </a:lvl1pPr>
            <a:lvl2pPr marL="808264" indent="-465364">
              <a:spcBef>
                <a:spcPts val="4500"/>
              </a:spcBef>
              <a:defRPr sz="3800"/>
            </a:lvl2pPr>
            <a:lvl3pPr marL="1151164" indent="-465364">
              <a:spcBef>
                <a:spcPts val="4500"/>
              </a:spcBef>
              <a:defRPr sz="3800"/>
            </a:lvl3pPr>
            <a:lvl4pPr marL="1494064" indent="-465364">
              <a:spcBef>
                <a:spcPts val="4500"/>
              </a:spcBef>
              <a:defRPr sz="3800"/>
            </a:lvl4pPr>
            <a:lvl5pPr marL="1836964" indent="-465364">
              <a:spcBef>
                <a:spcPts val="4500"/>
              </a:spcBef>
              <a:defRPr sz="3800"/>
            </a:lvl5pPr>
          </a:lstStyle>
          <a:p>
            <a:pPr/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68" name="Número do Slide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Marcado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Nível de Corpo Um…"/>
          <p:cNvSpPr/>
          <p:nvPr>
            <p:ph type="body" idx="1"/>
          </p:nvPr>
        </p:nvSpPr>
        <p:spPr>
          <a:xfrm>
            <a:off x="4387453" y="1785937"/>
            <a:ext cx="15609094" cy="10144126"/>
          </a:xfrm>
          <a:prstGeom prst="rect">
            <a:avLst/>
          </a:prstGeom>
        </p:spPr>
        <p:txBody>
          <a:bodyPr/>
          <a:lstStyle/>
          <a:p>
            <a:pPr/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76" name="Número do Slide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Três F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Imagem"/>
          <p:cNvSpPr/>
          <p:nvPr>
            <p:ph type="pic" sz="quarter" idx="13"/>
          </p:nvPr>
        </p:nvSpPr>
        <p:spPr>
          <a:xfrm>
            <a:off x="12495609" y="7161609"/>
            <a:ext cx="7500938" cy="5304235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4" name="Imagem"/>
          <p:cNvSpPr/>
          <p:nvPr>
            <p:ph type="pic" sz="quarter" idx="14"/>
          </p:nvPr>
        </p:nvSpPr>
        <p:spPr>
          <a:xfrm>
            <a:off x="12504353" y="1250156"/>
            <a:ext cx="7500939" cy="5304235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5" name="Imagem"/>
          <p:cNvSpPr/>
          <p:nvPr>
            <p:ph type="pic" sz="half" idx="15"/>
          </p:nvPr>
        </p:nvSpPr>
        <p:spPr>
          <a:xfrm>
            <a:off x="4387453" y="1250156"/>
            <a:ext cx="7500938" cy="11215688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6" name="Número do Slide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Cit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–Jaime Silveira"/>
          <p:cNvSpPr/>
          <p:nvPr>
            <p:ph type="body" sz="quarter" idx="13"/>
          </p:nvPr>
        </p:nvSpPr>
        <p:spPr>
          <a:xfrm>
            <a:off x="4833937" y="8947546"/>
            <a:ext cx="14716126" cy="660798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32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–Jaime Silveira</a:t>
            </a:r>
          </a:p>
        </p:txBody>
      </p:sp>
      <p:sp>
        <p:nvSpPr>
          <p:cNvPr id="94" name="“Digite uma citação aqui.”"/>
          <p:cNvSpPr/>
          <p:nvPr>
            <p:ph type="body" sz="quarter" idx="14"/>
          </p:nvPr>
        </p:nvSpPr>
        <p:spPr>
          <a:xfrm>
            <a:off x="4833937" y="6000353"/>
            <a:ext cx="14716126" cy="965201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5200"/>
            </a:lvl1pPr>
          </a:lstStyle>
          <a:p>
            <a:pPr/>
            <a:r>
              <a:t>“Digite uma citação aqui.” </a:t>
            </a:r>
          </a:p>
        </p:txBody>
      </p:sp>
      <p:sp>
        <p:nvSpPr>
          <p:cNvPr id="95" name="Número do Slide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Imagem"/>
          <p:cNvSpPr/>
          <p:nvPr>
            <p:ph type="pic" idx="13"/>
          </p:nvPr>
        </p:nvSpPr>
        <p:spPr>
          <a:xfrm>
            <a:off x="3048000" y="0"/>
            <a:ext cx="18288000" cy="137160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03" name="Número do Slide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Número do Slide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do Título"/>
          <p:cNvSpPr/>
          <p:nvPr>
            <p:ph type="title"/>
          </p:nvPr>
        </p:nvSpPr>
        <p:spPr>
          <a:xfrm>
            <a:off x="4387453" y="625078"/>
            <a:ext cx="15609094" cy="3036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normAutofit fontScale="100000" lnSpcReduction="0"/>
          </a:bodyPr>
          <a:lstStyle/>
          <a:p>
            <a:pPr/>
            <a:r>
              <a:t>Texto do Título</a:t>
            </a:r>
          </a:p>
        </p:txBody>
      </p:sp>
      <p:sp>
        <p:nvSpPr>
          <p:cNvPr id="3" name="Nível de Corpo Um…"/>
          <p:cNvSpPr/>
          <p:nvPr>
            <p:ph type="body" idx="1"/>
          </p:nvPr>
        </p:nvSpPr>
        <p:spPr>
          <a:xfrm>
            <a:off x="4387453" y="3661171"/>
            <a:ext cx="15609094" cy="88403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normAutofit fontScale="100000" lnSpcReduction="0"/>
          </a:bodyPr>
          <a:lstStyle/>
          <a:p>
            <a:pPr/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4" name="Número do Slide"/>
          <p:cNvSpPr/>
          <p:nvPr>
            <p:ph type="sldNum" sz="quarter" idx="2"/>
          </p:nvPr>
        </p:nvSpPr>
        <p:spPr>
          <a:xfrm>
            <a:off x="11935814" y="13010554"/>
            <a:ext cx="494513" cy="511176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>
            <a:spAutoFit/>
          </a:bodyPr>
          <a:lstStyle>
            <a:lvl1pPr>
              <a:defRPr sz="24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transition xmlns:p14="http://schemas.microsoft.com/office/powerpoint/2010/main" spd="med" advClick="1"/>
  <p:txStyles>
    <p:titleStyle>
      <a:lvl1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2286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4572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6858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9144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1430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3716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16002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18288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titleStyle>
    <p:bodyStyle>
      <a:lvl1pPr marL="617361" marR="0" indent="-617361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5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1061861" marR="0" indent="-617361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5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1506361" marR="0" indent="-617361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5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1950861" marR="0" indent="-617361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5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2395361" marR="0" indent="-617361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5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2839861" marR="0" indent="-617361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5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3284361" marR="0" indent="-617361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5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3728861" marR="0" indent="-617361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5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4173361" marR="0" indent="-617361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5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bodyStyle>
    <p:otherStyle>
      <a:lvl1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2286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4572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6858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9144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1430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3716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16002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18288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3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3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4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4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4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4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4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4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4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4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4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4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5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5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5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Oferta"/>
          <p:cNvSpPr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Oferta</a:t>
            </a:r>
          </a:p>
        </p:txBody>
      </p:sp>
      <p:sp>
        <p:nvSpPr>
          <p:cNvPr id="120" name="É hora de fazer algumas vendas"/>
          <p:cNvSpPr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É hora de fazer algumas vendas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Etapas da Oferta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Etapas da Oferta</a:t>
            </a:r>
          </a:p>
        </p:txBody>
      </p:sp>
      <p:sp>
        <p:nvSpPr>
          <p:cNvPr id="123" name="Transição…"/>
          <p:cNvSpPr/>
          <p:nvPr>
            <p:ph type="body" sz="half" idx="1"/>
          </p:nvPr>
        </p:nvSpPr>
        <p:spPr>
          <a:xfrm>
            <a:off x="4387453" y="3661171"/>
            <a:ext cx="7524379" cy="9531420"/>
          </a:xfrm>
          <a:prstGeom prst="rect">
            <a:avLst/>
          </a:prstGeom>
        </p:spPr>
        <p:txBody>
          <a:bodyPr/>
          <a:lstStyle/>
          <a:p>
            <a:pPr marL="506236" indent="-506236" defTabSz="673655">
              <a:spcBef>
                <a:spcPts val="4800"/>
              </a:spcBef>
              <a:defRPr sz="4100"/>
            </a:pPr>
            <a:r>
              <a:t>Transição</a:t>
            </a:r>
          </a:p>
          <a:p>
            <a:pPr marL="506236" indent="-506236" defTabSz="673655">
              <a:spcBef>
                <a:spcPts val="4800"/>
              </a:spcBef>
              <a:defRPr sz="4100"/>
            </a:pPr>
            <a:r>
              <a:t>Como meu produto vai te ajudar</a:t>
            </a:r>
          </a:p>
          <a:p>
            <a:pPr marL="506236" indent="-506236" defTabSz="673655">
              <a:spcBef>
                <a:spcPts val="4800"/>
              </a:spcBef>
              <a:defRPr sz="4100"/>
            </a:pPr>
            <a:r>
              <a:t>Transformação</a:t>
            </a:r>
          </a:p>
          <a:p>
            <a:pPr marL="506236" indent="-506236" defTabSz="673655">
              <a:spcBef>
                <a:spcPts val="4800"/>
              </a:spcBef>
              <a:defRPr sz="4100"/>
            </a:pPr>
            <a:r>
              <a:t>Apresenta o Produto</a:t>
            </a:r>
          </a:p>
          <a:p>
            <a:pPr marL="506236" indent="-506236" defTabSz="673655">
              <a:spcBef>
                <a:spcPts val="4800"/>
              </a:spcBef>
              <a:defRPr sz="4100"/>
            </a:pPr>
            <a:r>
              <a:t>Preço</a:t>
            </a:r>
          </a:p>
          <a:p>
            <a:pPr marL="506236" indent="-506236" defTabSz="673655">
              <a:spcBef>
                <a:spcPts val="4800"/>
              </a:spcBef>
              <a:defRPr sz="4100"/>
            </a:pPr>
            <a:r>
              <a:t>Chamada pra ação + o que vai acontecer</a:t>
            </a:r>
          </a:p>
          <a:p>
            <a:pPr marL="506236" indent="-506236" defTabSz="673655">
              <a:spcBef>
                <a:spcPts val="4800"/>
              </a:spcBef>
              <a:defRPr sz="4100"/>
            </a:pPr>
            <a:r>
              <a:t>Bônus de ação rápida</a:t>
            </a:r>
          </a:p>
        </p:txBody>
      </p:sp>
      <p:sp>
        <p:nvSpPr>
          <p:cNvPr id="124" name="Transformação…"/>
          <p:cNvSpPr/>
          <p:nvPr/>
        </p:nvSpPr>
        <p:spPr>
          <a:xfrm>
            <a:off x="12324953" y="3661171"/>
            <a:ext cx="7524379" cy="95314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normAutofit fontScale="100000" lnSpcReduction="0"/>
          </a:bodyPr>
          <a:lstStyle/>
          <a:p>
            <a:pPr marL="506236" indent="-506236" algn="l" defTabSz="673655">
              <a:spcBef>
                <a:spcPts val="4800"/>
              </a:spcBef>
              <a:buSzPct val="75000"/>
              <a:buChar char="•"/>
              <a:defRPr sz="4100"/>
            </a:pPr>
            <a:r>
              <a:t>Transformação</a:t>
            </a:r>
          </a:p>
          <a:p>
            <a:pPr marL="506236" indent="-506236" algn="l" defTabSz="673655">
              <a:spcBef>
                <a:spcPts val="4800"/>
              </a:spcBef>
              <a:buSzPct val="75000"/>
              <a:buChar char="•"/>
              <a:defRPr sz="4100"/>
            </a:pPr>
            <a:r>
              <a:t>Bônus</a:t>
            </a:r>
          </a:p>
          <a:p>
            <a:pPr marL="506236" indent="-506236" algn="l" defTabSz="673655">
              <a:spcBef>
                <a:spcPts val="4800"/>
              </a:spcBef>
              <a:buSzPct val="75000"/>
              <a:buChar char="•"/>
              <a:defRPr sz="4100"/>
            </a:pPr>
            <a:r>
              <a:t>Eliminar Risco</a:t>
            </a:r>
          </a:p>
          <a:p>
            <a:pPr marL="506236" indent="-506236" algn="l" defTabSz="673655">
              <a:spcBef>
                <a:spcPts val="4800"/>
              </a:spcBef>
              <a:buSzPct val="75000"/>
              <a:buChar char="•"/>
              <a:defRPr sz="4100"/>
            </a:pPr>
            <a:r>
              <a:t>Recapitulação</a:t>
            </a:r>
          </a:p>
          <a:p>
            <a:pPr marL="506236" indent="-506236" algn="l" defTabSz="673655">
              <a:spcBef>
                <a:spcPts val="4800"/>
              </a:spcBef>
              <a:buSzPct val="75000"/>
              <a:buChar char="•"/>
              <a:defRPr sz="4100"/>
            </a:pPr>
            <a:r>
              <a:t>Urgência de compra</a:t>
            </a:r>
          </a:p>
          <a:p>
            <a:pPr marL="506236" indent="-506236" algn="l" defTabSz="673655">
              <a:spcBef>
                <a:spcPts val="4800"/>
              </a:spcBef>
              <a:buSzPct val="75000"/>
              <a:buChar char="•"/>
              <a:defRPr sz="4100"/>
            </a:pPr>
            <a:r>
              <a:t>Coerência</a:t>
            </a:r>
          </a:p>
          <a:p>
            <a:pPr marL="506236" indent="-506236" algn="l" defTabSz="673655">
              <a:spcBef>
                <a:spcPts val="4800"/>
              </a:spcBef>
              <a:buSzPct val="75000"/>
              <a:buChar char="•"/>
              <a:defRPr sz="4100"/>
            </a:pPr>
            <a:r>
              <a:t>Objeções (Q&amp;A)</a:t>
            </a:r>
          </a:p>
          <a:p>
            <a:pPr marL="506236" indent="-506236" algn="l" defTabSz="673655">
              <a:spcBef>
                <a:spcPts val="4800"/>
              </a:spcBef>
              <a:buSzPct val="75000"/>
              <a:buChar char="•"/>
              <a:defRPr sz="4100"/>
            </a:pPr>
            <a:r>
              <a:t>Chama pra ação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12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Class="entr" nodeType="with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1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1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fill="hold"/>
                                        <p:tgtEl>
                                          <p:spTgt spid="1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fill="hold"/>
                                        <p:tgtEl>
                                          <p:spTgt spid="1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8" fill="hold"/>
                                        <p:tgtEl>
                                          <p:spTgt spid="1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2" fill="hold"/>
                                        <p:tgtEl>
                                          <p:spTgt spid="1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6" fill="hold"/>
                                        <p:tgtEl>
                                          <p:spTgt spid="1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123" grpId="1"/>
      <p:bldP build="p" bldLvl="5" animBg="1" rev="0" advAuto="0" spid="124" grpId="2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ransição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Transição</a:t>
            </a:r>
          </a:p>
        </p:txBody>
      </p:sp>
      <p:sp>
        <p:nvSpPr>
          <p:cNvPr id="127" name="Afirmação Obvia + Afirmação Implicita + Conclusão…"/>
          <p:cNvSpPr/>
          <p:nvPr>
            <p:ph type="body" idx="1"/>
          </p:nvPr>
        </p:nvSpPr>
        <p:spPr>
          <a:xfrm>
            <a:off x="2269489" y="3399234"/>
            <a:ext cx="19845022" cy="8840391"/>
          </a:xfrm>
          <a:prstGeom prst="rect">
            <a:avLst/>
          </a:prstGeom>
        </p:spPr>
        <p:txBody>
          <a:bodyPr/>
          <a:lstStyle/>
          <a:p>
            <a:pPr marL="605013" indent="-605013" defTabSz="805100">
              <a:spcBef>
                <a:spcPts val="5700"/>
              </a:spcBef>
              <a:defRPr sz="4900"/>
            </a:pPr>
            <a:r>
              <a:t>Afirmação Obvia + Afirmação Implicita + Conclusão</a:t>
            </a:r>
          </a:p>
          <a:p>
            <a:pPr marL="605013" indent="-605013" defTabSz="805100">
              <a:spcBef>
                <a:spcPts val="5700"/>
              </a:spcBef>
              <a:defRPr sz="4900"/>
            </a:pPr>
            <a:r>
              <a:t>Você assistiu essa aula comigo até esse momento</a:t>
            </a:r>
          </a:p>
          <a:p>
            <a:pPr marL="605013" indent="-605013" defTabSz="805100">
              <a:spcBef>
                <a:spcPts val="5700"/>
              </a:spcBef>
              <a:defRPr sz="4900"/>
            </a:pPr>
            <a:r>
              <a:t>Você viu que esse funil é a ferramenta mais poderosa pra gerar vendas na internet de forma automática.</a:t>
            </a:r>
          </a:p>
          <a:p>
            <a:pPr marL="605013" indent="-605013" defTabSz="805100">
              <a:spcBef>
                <a:spcPts val="5700"/>
              </a:spcBef>
              <a:defRPr sz="4900"/>
            </a:pPr>
            <a:r>
              <a:t>Mas você não faz a menor ideia de como implementar ele no seu negócio.</a:t>
            </a:r>
          </a:p>
          <a:p>
            <a:pPr marL="605013" indent="-605013" defTabSz="805100">
              <a:spcBef>
                <a:spcPts val="5700"/>
              </a:spcBef>
              <a:defRPr sz="4900"/>
            </a:pPr>
            <a:r>
              <a:t>É por isso que eu criei esse treinamento que eu chamo de Funil 10x.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2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1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127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ransição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Transição</a:t>
            </a:r>
          </a:p>
        </p:txBody>
      </p:sp>
      <p:sp>
        <p:nvSpPr>
          <p:cNvPr id="130" name="Afirmação de identificação + Problema + Solução…"/>
          <p:cNvSpPr/>
          <p:nvPr>
            <p:ph type="body" idx="1"/>
          </p:nvPr>
        </p:nvSpPr>
        <p:spPr>
          <a:xfrm>
            <a:off x="2269489" y="3399234"/>
            <a:ext cx="19845022" cy="8840391"/>
          </a:xfrm>
          <a:prstGeom prst="rect">
            <a:avLst/>
          </a:prstGeom>
        </p:spPr>
        <p:txBody>
          <a:bodyPr/>
          <a:lstStyle/>
          <a:p>
            <a:pPr/>
            <a:r>
              <a:t>Afirmação de identificação + Problema + Solução</a:t>
            </a:r>
          </a:p>
          <a:p>
            <a:pPr/>
            <a:r>
              <a:t>Se você tem um produto ou serviço que pode realmente ajudar muitas pessoas e fazer a diferença no seu mercado, você deve estar se perguntando como você pode implementar esse funil no seu negócio pra gerar resultado de forma consistente e aumentar o seu faturamento em até 10 vezes.</a:t>
            </a:r>
          </a:p>
          <a:p>
            <a:pPr/>
            <a:r>
              <a:t>A boa notícia é que eu posso te ajudar a colocar ele rodando no seu negócio em apenas 8 semanas. É por isso que eu criei esse treinamento Funil 10x.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3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130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Construir uma Oferta Irresistível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788669">
              <a:defRPr b="1" sz="13823">
                <a:solidFill>
                  <a:schemeClr val="accent1">
                    <a:hueOff val="273562"/>
                    <a:satOff val="2937"/>
                    <a:lumOff val="-22233"/>
                  </a:schemeClr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Construir uma Oferta Irresistível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Criar um Webinário de Alta Conversão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706516">
              <a:defRPr b="1" sz="12384">
                <a:solidFill>
                  <a:schemeClr val="accent1">
                    <a:hueOff val="273562"/>
                    <a:satOff val="2937"/>
                    <a:lumOff val="-22233"/>
                  </a:schemeClr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Criar um Webinário de Alta Conversão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Funil de Webinário Perpétuo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731162">
              <a:defRPr b="1" sz="12816">
                <a:solidFill>
                  <a:schemeClr val="accent1">
                    <a:hueOff val="273562"/>
                    <a:satOff val="2937"/>
                    <a:lumOff val="-22233"/>
                  </a:schemeClr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Funil de Webinário Perpétuo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udo em 8 semanas…"/>
          <p:cNvSpPr/>
          <p:nvPr>
            <p:ph type="title"/>
          </p:nvPr>
        </p:nvSpPr>
        <p:spPr>
          <a:xfrm>
            <a:off x="2079587" y="4536281"/>
            <a:ext cx="20224826" cy="4643438"/>
          </a:xfrm>
          <a:prstGeom prst="rect">
            <a:avLst/>
          </a:prstGeom>
        </p:spPr>
        <p:txBody>
          <a:bodyPr/>
          <a:lstStyle>
            <a:lvl1pPr>
              <a:defRPr b="1" sz="14400">
                <a:solidFill>
                  <a:schemeClr val="accent1">
                    <a:hueOff val="273562"/>
                    <a:satOff val="2937"/>
                    <a:lumOff val="-22233"/>
                  </a:schemeClr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Tudo em 8 semanas…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Aumentar Faturamento em até 10 vezes"/>
          <p:cNvSpPr/>
          <p:nvPr>
            <p:ph type="title"/>
          </p:nvPr>
        </p:nvSpPr>
        <p:spPr>
          <a:xfrm>
            <a:off x="745694" y="3450179"/>
            <a:ext cx="22892612" cy="6815642"/>
          </a:xfrm>
          <a:prstGeom prst="rect">
            <a:avLst/>
          </a:prstGeom>
        </p:spPr>
        <p:txBody>
          <a:bodyPr/>
          <a:lstStyle>
            <a:lvl1pPr>
              <a:defRPr b="1" sz="143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Aumentar Faturamento em até 10 vezes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Maquina Automática de Vendas"/>
          <p:cNvSpPr/>
          <p:nvPr>
            <p:ph type="title"/>
          </p:nvPr>
        </p:nvSpPr>
        <p:spPr>
          <a:xfrm>
            <a:off x="745694" y="3450179"/>
            <a:ext cx="22892612" cy="6815642"/>
          </a:xfrm>
          <a:prstGeom prst="rect">
            <a:avLst/>
          </a:prstGeom>
        </p:spPr>
        <p:txBody>
          <a:bodyPr/>
          <a:lstStyle>
            <a:lvl1pPr>
              <a:defRPr b="1" sz="145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Maquina Automática de Vendas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Construir Autoridade"/>
          <p:cNvSpPr/>
          <p:nvPr>
            <p:ph type="title"/>
          </p:nvPr>
        </p:nvSpPr>
        <p:spPr>
          <a:xfrm>
            <a:off x="745694" y="3450179"/>
            <a:ext cx="22892612" cy="6815642"/>
          </a:xfrm>
          <a:prstGeom prst="rect">
            <a:avLst/>
          </a:prstGeom>
        </p:spPr>
        <p:txBody>
          <a:bodyPr/>
          <a:lstStyle>
            <a:lvl1pPr>
              <a:defRPr b="1" sz="145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Construir Autoridade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Consistente…"/>
          <p:cNvSpPr/>
          <p:nvPr>
            <p:ph type="title"/>
          </p:nvPr>
        </p:nvSpPr>
        <p:spPr>
          <a:xfrm>
            <a:off x="745694" y="3450179"/>
            <a:ext cx="22892612" cy="6815642"/>
          </a:xfrm>
          <a:prstGeom prst="rect">
            <a:avLst/>
          </a:prstGeom>
        </p:spPr>
        <p:txBody>
          <a:bodyPr/>
          <a:lstStyle/>
          <a:p>
            <a:pPr>
              <a:defRPr b="1" sz="14500">
                <a:latin typeface="Helvetica"/>
                <a:ea typeface="Helvetica"/>
                <a:cs typeface="Helvetica"/>
                <a:sym typeface="Helvetica"/>
              </a:defRPr>
            </a:pPr>
            <a:r>
              <a:t>Consistente</a:t>
            </a:r>
          </a:p>
          <a:p>
            <a:pPr>
              <a:defRPr b="1" sz="14500">
                <a:latin typeface="Helvetica"/>
                <a:ea typeface="Helvetica"/>
                <a:cs typeface="Helvetica"/>
                <a:sym typeface="Helvetica"/>
              </a:defRPr>
            </a:pPr>
            <a:r>
              <a:t>Piloto Automático…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Isso é Especificamente Pra Você!!!"/>
          <p:cNvSpPr/>
          <p:nvPr>
            <p:ph type="title"/>
          </p:nvPr>
        </p:nvSpPr>
        <p:spPr>
          <a:xfrm>
            <a:off x="745694" y="3450179"/>
            <a:ext cx="22892612" cy="6815642"/>
          </a:xfrm>
          <a:prstGeom prst="rect">
            <a:avLst/>
          </a:prstGeom>
        </p:spPr>
        <p:txBody>
          <a:bodyPr/>
          <a:lstStyle>
            <a:lvl1pPr>
              <a:defRPr b="1" sz="145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Isso é Especificamente Pra Você!!!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Funil 10x"/>
          <p:cNvSpPr/>
          <p:nvPr>
            <p:ph type="title"/>
          </p:nvPr>
        </p:nvSpPr>
        <p:spPr>
          <a:xfrm>
            <a:off x="2186548" y="5953"/>
            <a:ext cx="20010904" cy="3036094"/>
          </a:xfrm>
          <a:prstGeom prst="rect">
            <a:avLst/>
          </a:prstGeom>
        </p:spPr>
        <p:txBody>
          <a:bodyPr/>
          <a:lstStyle/>
          <a:p>
            <a:pPr/>
            <a:r>
              <a:t>Funil 10x</a:t>
            </a:r>
          </a:p>
        </p:txBody>
      </p:sp>
      <p:sp>
        <p:nvSpPr>
          <p:cNvPr id="151" name="Etapa 1: Webinário Black Box…"/>
          <p:cNvSpPr/>
          <p:nvPr>
            <p:ph type="body" sz="half" idx="1"/>
          </p:nvPr>
        </p:nvSpPr>
        <p:spPr>
          <a:xfrm>
            <a:off x="929861" y="2854795"/>
            <a:ext cx="10119684" cy="9646768"/>
          </a:xfrm>
          <a:prstGeom prst="rect">
            <a:avLst/>
          </a:prstGeom>
        </p:spPr>
        <p:txBody>
          <a:bodyPr/>
          <a:lstStyle/>
          <a:p>
            <a:pPr/>
            <a:r>
              <a:t>Etapa 1: </a:t>
            </a:r>
            <a:r>
              <a:rPr b="1">
                <a:latin typeface="Helvetica"/>
                <a:ea typeface="Helvetica"/>
                <a:cs typeface="Helvetica"/>
                <a:sym typeface="Helvetica"/>
              </a:rPr>
              <a:t>Webinário Black Box</a:t>
            </a:r>
            <a:endParaRPr b="1">
              <a:latin typeface="Helvetica"/>
              <a:ea typeface="Helvetica"/>
              <a:cs typeface="Helvetica"/>
              <a:sym typeface="Helvetica"/>
            </a:endParaRPr>
          </a:p>
          <a:p>
            <a:pPr/>
            <a:r>
              <a:t>Etapa 2:</a:t>
            </a:r>
            <a:r>
              <a:rPr b="1">
                <a:latin typeface="Helvetica"/>
                <a:ea typeface="Helvetica"/>
                <a:cs typeface="Helvetica"/>
                <a:sym typeface="Helvetica"/>
              </a:rPr>
              <a:t> Micro Funis</a:t>
            </a:r>
            <a:endParaRPr b="1">
              <a:latin typeface="Helvetica"/>
              <a:ea typeface="Helvetica"/>
              <a:cs typeface="Helvetica"/>
              <a:sym typeface="Helvetica"/>
            </a:endParaRPr>
          </a:p>
          <a:p>
            <a:pPr/>
            <a:r>
              <a:t>Etapa 3:</a:t>
            </a:r>
            <a:r>
              <a:rPr b="1">
                <a:latin typeface="Helvetica"/>
                <a:ea typeface="Helvetica"/>
                <a:cs typeface="Helvetica"/>
                <a:sym typeface="Helvetica"/>
              </a:rPr>
              <a:t> The Hammer</a:t>
            </a:r>
            <a:endParaRPr b="1">
              <a:latin typeface="Helvetica"/>
              <a:ea typeface="Helvetica"/>
              <a:cs typeface="Helvetica"/>
              <a:sym typeface="Helvetica"/>
            </a:endParaRPr>
          </a:p>
          <a:p>
            <a:pPr/>
            <a:r>
              <a:t>Etapa 4:</a:t>
            </a:r>
            <a:r>
              <a:rPr b="1">
                <a:latin typeface="Helvetica"/>
                <a:ea typeface="Helvetica"/>
                <a:cs typeface="Helvetica"/>
                <a:sym typeface="Helvetica"/>
              </a:rPr>
              <a:t> Escassez Extrema</a:t>
            </a:r>
          </a:p>
        </p:txBody>
      </p:sp>
      <p:sp>
        <p:nvSpPr>
          <p:cNvPr id="152" name="Etapa 5:  Reengajamento…"/>
          <p:cNvSpPr/>
          <p:nvPr/>
        </p:nvSpPr>
        <p:spPr>
          <a:xfrm>
            <a:off x="13593001" y="2854795"/>
            <a:ext cx="10119683" cy="964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normAutofit fontScale="100000" lnSpcReduction="0"/>
          </a:bodyPr>
          <a:lstStyle/>
          <a:p>
            <a:pPr marL="617361" indent="-617361" algn="l">
              <a:spcBef>
                <a:spcPts val="5900"/>
              </a:spcBef>
              <a:buSzPct val="75000"/>
              <a:buChar char="•"/>
            </a:pPr>
            <a:r>
              <a:t>Etapa 5:</a:t>
            </a:r>
            <a:r>
              <a:rPr b="1">
                <a:latin typeface="Helvetica"/>
                <a:ea typeface="Helvetica"/>
                <a:cs typeface="Helvetica"/>
                <a:sym typeface="Helvetica"/>
              </a:rPr>
              <a:t>  Reengajamento </a:t>
            </a:r>
            <a:endParaRPr b="1">
              <a:latin typeface="Helvetica"/>
              <a:ea typeface="Helvetica"/>
              <a:cs typeface="Helvetica"/>
              <a:sym typeface="Helvetica"/>
            </a:endParaRPr>
          </a:p>
          <a:p>
            <a:pPr marL="617361" indent="-617361" algn="l">
              <a:spcBef>
                <a:spcPts val="5900"/>
              </a:spcBef>
              <a:buSzPct val="75000"/>
              <a:buChar char="•"/>
            </a:pPr>
            <a:r>
              <a:t>Etapa 6:</a:t>
            </a:r>
            <a:r>
              <a:rPr b="1">
                <a:latin typeface="Helvetica"/>
                <a:ea typeface="Helvetica"/>
                <a:cs typeface="Helvetica"/>
                <a:sym typeface="Helvetica"/>
              </a:rPr>
              <a:t> Caminho Alternativo</a:t>
            </a:r>
            <a:endParaRPr b="1">
              <a:latin typeface="Helvetica"/>
              <a:ea typeface="Helvetica"/>
              <a:cs typeface="Helvetica"/>
              <a:sym typeface="Helvetica"/>
            </a:endParaRPr>
          </a:p>
          <a:p>
            <a:pPr marL="617361" indent="-617361" algn="l">
              <a:spcBef>
                <a:spcPts val="5900"/>
              </a:spcBef>
              <a:buSzPct val="75000"/>
              <a:buChar char="•"/>
            </a:pPr>
            <a:r>
              <a:t>Etapa 7:</a:t>
            </a:r>
            <a:r>
              <a:rPr b="1">
                <a:latin typeface="Helvetica"/>
                <a:ea typeface="Helvetica"/>
                <a:cs typeface="Helvetica"/>
                <a:sym typeface="Helvetica"/>
              </a:rPr>
              <a:t> Segunda Chance</a:t>
            </a:r>
            <a:endParaRPr b="1">
              <a:latin typeface="Helvetica"/>
              <a:ea typeface="Helvetica"/>
              <a:cs typeface="Helvetica"/>
              <a:sym typeface="Helvetica"/>
            </a:endParaRPr>
          </a:p>
          <a:p>
            <a:pPr marL="617361" indent="-617361" algn="l">
              <a:spcBef>
                <a:spcPts val="5900"/>
              </a:spcBef>
              <a:buSzPct val="75000"/>
              <a:buChar char="•"/>
            </a:pPr>
            <a:r>
              <a:t>Etapa 8:</a:t>
            </a:r>
            <a:r>
              <a:rPr b="1">
                <a:latin typeface="Helvetica"/>
                <a:ea typeface="Helvetica"/>
                <a:cs typeface="Helvetica"/>
                <a:sym typeface="Helvetica"/>
              </a:rPr>
              <a:t> Visão Raio X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5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15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Class="entr" nodeType="with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1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1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1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1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152" grpId="2"/>
      <p:bldP build="p" bldLvl="5" animBg="1" rev="0" advAuto="0" spid="151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Etapa1: Webinário Black Box"/>
          <p:cNvSpPr/>
          <p:nvPr>
            <p:ph type="title"/>
          </p:nvPr>
        </p:nvSpPr>
        <p:spPr>
          <a:xfrm>
            <a:off x="2186548" y="5953"/>
            <a:ext cx="20010904" cy="3036094"/>
          </a:xfrm>
          <a:prstGeom prst="rect">
            <a:avLst/>
          </a:prstGeom>
        </p:spPr>
        <p:txBody>
          <a:bodyPr/>
          <a:lstStyle/>
          <a:p>
            <a:pPr/>
            <a:r>
              <a:t>Etapa1: Webinário Black Box</a:t>
            </a:r>
          </a:p>
        </p:txBody>
      </p:sp>
      <p:sp>
        <p:nvSpPr>
          <p:cNvPr id="155" name="Descobrir como criar um webinário de alta conversão, assim você vai gerar vendas enquanto entrega valor pro seu mercado e constrói sua autoridade.…"/>
          <p:cNvSpPr/>
          <p:nvPr>
            <p:ph type="body" idx="1"/>
          </p:nvPr>
        </p:nvSpPr>
        <p:spPr>
          <a:xfrm>
            <a:off x="2077695" y="2825229"/>
            <a:ext cx="20228611" cy="9646768"/>
          </a:xfrm>
          <a:prstGeom prst="rect">
            <a:avLst/>
          </a:prstGeom>
        </p:spPr>
        <p:txBody>
          <a:bodyPr/>
          <a:lstStyle/>
          <a:p>
            <a:pPr/>
            <a:r>
              <a:t>Descobrir como criar um webinário de alta conversão, assim você vai </a:t>
            </a:r>
            <a:r>
              <a:rPr b="1">
                <a:latin typeface="Helvetica"/>
                <a:ea typeface="Helvetica"/>
                <a:cs typeface="Helvetica"/>
                <a:sym typeface="Helvetica"/>
              </a:rPr>
              <a:t>gerar vendas enquanto entrega valor pro seu mercado e constrói sua autoridade.</a:t>
            </a:r>
            <a:endParaRPr b="1">
              <a:latin typeface="Helvetica"/>
              <a:ea typeface="Helvetica"/>
              <a:cs typeface="Helvetica"/>
              <a:sym typeface="Helvetica"/>
            </a:endParaRPr>
          </a:p>
          <a:p>
            <a:pPr/>
            <a:r>
              <a:t>Aprender, passo a passo, como automatizar seu webinário pra rodar a cada 15 minutos, todos os dias, </a:t>
            </a:r>
            <a:r>
              <a:rPr b="1">
                <a:latin typeface="Helvetica"/>
                <a:ea typeface="Helvetica"/>
                <a:cs typeface="Helvetica"/>
                <a:sym typeface="Helvetica"/>
              </a:rPr>
              <a:t>gerando assim um enorme impacto nas suas vendas todos os dias.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5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155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Etapa 2: Micro Funis"/>
          <p:cNvSpPr/>
          <p:nvPr>
            <p:ph type="title"/>
          </p:nvPr>
        </p:nvSpPr>
        <p:spPr>
          <a:xfrm>
            <a:off x="2186548" y="5953"/>
            <a:ext cx="20010904" cy="3036094"/>
          </a:xfrm>
          <a:prstGeom prst="rect">
            <a:avLst/>
          </a:prstGeom>
        </p:spPr>
        <p:txBody>
          <a:bodyPr/>
          <a:lstStyle/>
          <a:p>
            <a:pPr/>
            <a:r>
              <a:t>Etapa 2: Micro Funis</a:t>
            </a:r>
          </a:p>
        </p:txBody>
      </p:sp>
      <p:sp>
        <p:nvSpPr>
          <p:cNvPr id="158" name="Como identificar os leads mais quentes e prontos pra comprar, e ativar, de forma automática, um processo de conversão guiada, gerando assim um impacto astronômico na taxa de conversão do Funil"/>
          <p:cNvSpPr/>
          <p:nvPr>
            <p:ph type="body" idx="1"/>
          </p:nvPr>
        </p:nvSpPr>
        <p:spPr>
          <a:xfrm>
            <a:off x="2077695" y="2825229"/>
            <a:ext cx="20228611" cy="9646768"/>
          </a:xfrm>
          <a:prstGeom prst="rect">
            <a:avLst/>
          </a:prstGeom>
        </p:spPr>
        <p:txBody>
          <a:bodyPr/>
          <a:lstStyle/>
          <a:p>
            <a:pPr/>
            <a:r>
              <a:t>Como identificar os leads mais quentes e prontos pra comprar, e ativar, de forma automática, um processo de conversão guiada, </a:t>
            </a:r>
            <a:r>
              <a:rPr b="1">
                <a:latin typeface="Helvetica"/>
                <a:ea typeface="Helvetica"/>
                <a:cs typeface="Helvetica"/>
                <a:sym typeface="Helvetica"/>
              </a:rPr>
              <a:t>gerando assim um impacto astronômico na taxa de conversão do Funil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5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158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Etapa 3: The Hammer"/>
          <p:cNvSpPr/>
          <p:nvPr>
            <p:ph type="title"/>
          </p:nvPr>
        </p:nvSpPr>
        <p:spPr>
          <a:xfrm>
            <a:off x="2186548" y="5953"/>
            <a:ext cx="20010904" cy="3036094"/>
          </a:xfrm>
          <a:prstGeom prst="rect">
            <a:avLst/>
          </a:prstGeom>
        </p:spPr>
        <p:txBody>
          <a:bodyPr/>
          <a:lstStyle/>
          <a:p>
            <a:pPr/>
            <a:r>
              <a:t>Etapa 3: The Hammer</a:t>
            </a:r>
          </a:p>
        </p:txBody>
      </p:sp>
      <p:sp>
        <p:nvSpPr>
          <p:cNvPr id="161" name="O processo automático pra transformar NÃO em SIM, e fazer as pessoas te agradecerem por terem comprado de você."/>
          <p:cNvSpPr/>
          <p:nvPr>
            <p:ph type="body" idx="1"/>
          </p:nvPr>
        </p:nvSpPr>
        <p:spPr>
          <a:xfrm>
            <a:off x="2077695" y="2825229"/>
            <a:ext cx="20228611" cy="9646768"/>
          </a:xfrm>
          <a:prstGeom prst="rect">
            <a:avLst/>
          </a:prstGeom>
        </p:spPr>
        <p:txBody>
          <a:bodyPr/>
          <a:lstStyle/>
          <a:p>
            <a:pPr/>
            <a:r>
              <a:t>O processo automático pra transformar NÃO em SIM, e </a:t>
            </a:r>
            <a:r>
              <a:rPr b="1">
                <a:latin typeface="Helvetica"/>
                <a:ea typeface="Helvetica"/>
                <a:cs typeface="Helvetica"/>
                <a:sym typeface="Helvetica"/>
              </a:rPr>
              <a:t>fazer as pessoas te agradecerem por terem comprado de você.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6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161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Etapa 4: Escassez Extrema"/>
          <p:cNvSpPr/>
          <p:nvPr>
            <p:ph type="title"/>
          </p:nvPr>
        </p:nvSpPr>
        <p:spPr>
          <a:xfrm>
            <a:off x="2186548" y="5953"/>
            <a:ext cx="20010904" cy="3036094"/>
          </a:xfrm>
          <a:prstGeom prst="rect">
            <a:avLst/>
          </a:prstGeom>
        </p:spPr>
        <p:txBody>
          <a:bodyPr/>
          <a:lstStyle/>
          <a:p>
            <a:pPr/>
            <a:r>
              <a:t>Etapa 4: Escassez Extrema</a:t>
            </a:r>
          </a:p>
        </p:txBody>
      </p:sp>
      <p:sp>
        <p:nvSpPr>
          <p:cNvPr id="164" name="Como escalar gradativamente a urgência de compra com um sistema automatizado de escassez extrema, e assim aumentar em até 70% as vendas do seu funil!"/>
          <p:cNvSpPr/>
          <p:nvPr>
            <p:ph type="body" idx="1"/>
          </p:nvPr>
        </p:nvSpPr>
        <p:spPr>
          <a:xfrm>
            <a:off x="2077695" y="2825229"/>
            <a:ext cx="20228611" cy="9646768"/>
          </a:xfrm>
          <a:prstGeom prst="rect">
            <a:avLst/>
          </a:prstGeom>
        </p:spPr>
        <p:txBody>
          <a:bodyPr/>
          <a:lstStyle/>
          <a:p>
            <a:pPr/>
            <a:r>
              <a:t>Como escalar gradativamente a urgência de compra com um sistema automatizado de escassez extrema, </a:t>
            </a:r>
            <a:r>
              <a:rPr b="1">
                <a:latin typeface="Helvetica"/>
                <a:ea typeface="Helvetica"/>
                <a:cs typeface="Helvetica"/>
                <a:sym typeface="Helvetica"/>
              </a:rPr>
              <a:t>e assim aumentar em até 70% as vendas do seu funil!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6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164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Etapa 5: Reengajamento"/>
          <p:cNvSpPr/>
          <p:nvPr>
            <p:ph type="title"/>
          </p:nvPr>
        </p:nvSpPr>
        <p:spPr>
          <a:xfrm>
            <a:off x="2186548" y="5953"/>
            <a:ext cx="20010904" cy="3036094"/>
          </a:xfrm>
          <a:prstGeom prst="rect">
            <a:avLst/>
          </a:prstGeom>
        </p:spPr>
        <p:txBody>
          <a:bodyPr/>
          <a:lstStyle/>
          <a:p>
            <a:pPr/>
            <a:r>
              <a:t>Etapa 5: Reengajamento</a:t>
            </a:r>
          </a:p>
        </p:txBody>
      </p:sp>
      <p:sp>
        <p:nvSpPr>
          <p:cNvPr id="167" name="Descobrir como recuperar até 50% dos leads com potencial de compra que abandonaram seu funil no meio do caminho, gerando assim um novo ciclo de vendas no piloto automático"/>
          <p:cNvSpPr/>
          <p:nvPr>
            <p:ph type="body" idx="1"/>
          </p:nvPr>
        </p:nvSpPr>
        <p:spPr>
          <a:xfrm>
            <a:off x="2077695" y="2825229"/>
            <a:ext cx="20228611" cy="9646768"/>
          </a:xfrm>
          <a:prstGeom prst="rect">
            <a:avLst/>
          </a:prstGeom>
        </p:spPr>
        <p:txBody>
          <a:bodyPr/>
          <a:lstStyle/>
          <a:p>
            <a:pPr/>
            <a:r>
              <a:t>Descobrir como recuperar até 50% dos leads com potencial de compra que abandonaram seu funil no meio do caminho, </a:t>
            </a:r>
            <a:r>
              <a:rPr b="1">
                <a:latin typeface="Helvetica"/>
                <a:ea typeface="Helvetica"/>
                <a:cs typeface="Helvetica"/>
                <a:sym typeface="Helvetica"/>
              </a:rPr>
              <a:t>gerando assim um novo ciclo de vendas no piloto automático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6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167" grpId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Etapa 6: Caminho Alternativo"/>
          <p:cNvSpPr/>
          <p:nvPr>
            <p:ph type="title"/>
          </p:nvPr>
        </p:nvSpPr>
        <p:spPr>
          <a:xfrm>
            <a:off x="2186548" y="5953"/>
            <a:ext cx="20010904" cy="3036094"/>
          </a:xfrm>
          <a:prstGeom prst="rect">
            <a:avLst/>
          </a:prstGeom>
        </p:spPr>
        <p:txBody>
          <a:bodyPr/>
          <a:lstStyle/>
          <a:p>
            <a:pPr/>
            <a:r>
              <a:t>Etapa 6: Caminho Alternativo</a:t>
            </a:r>
          </a:p>
        </p:txBody>
      </p:sp>
      <p:sp>
        <p:nvSpPr>
          <p:cNvPr id="170" name="Como aumentar em até 20% o número de pessoas dentro do seu funil de vendas, diminuindo drasticamente o seu custo por lead e custo por venda."/>
          <p:cNvSpPr/>
          <p:nvPr>
            <p:ph type="body" idx="1"/>
          </p:nvPr>
        </p:nvSpPr>
        <p:spPr>
          <a:xfrm>
            <a:off x="2077695" y="2825229"/>
            <a:ext cx="20228611" cy="9646768"/>
          </a:xfrm>
          <a:prstGeom prst="rect">
            <a:avLst/>
          </a:prstGeom>
        </p:spPr>
        <p:txBody>
          <a:bodyPr/>
          <a:lstStyle/>
          <a:p>
            <a:pPr/>
            <a:r>
              <a:t>Como aumentar em até 20% o número de pessoas dentro do seu funil de vendas, </a:t>
            </a:r>
            <a:r>
              <a:rPr b="1">
                <a:latin typeface="Helvetica"/>
                <a:ea typeface="Helvetica"/>
                <a:cs typeface="Helvetica"/>
                <a:sym typeface="Helvetica"/>
              </a:rPr>
              <a:t>diminuindo drasticamente o seu custo por lead e custo por venda.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7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170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Etapa 7: Segunda Chance"/>
          <p:cNvSpPr/>
          <p:nvPr>
            <p:ph type="title"/>
          </p:nvPr>
        </p:nvSpPr>
        <p:spPr>
          <a:xfrm>
            <a:off x="2186548" y="5953"/>
            <a:ext cx="20010904" cy="3036094"/>
          </a:xfrm>
          <a:prstGeom prst="rect">
            <a:avLst/>
          </a:prstGeom>
        </p:spPr>
        <p:txBody>
          <a:bodyPr/>
          <a:lstStyle/>
          <a:p>
            <a:pPr/>
            <a:r>
              <a:t>Etapa 7: Segunda Chance</a:t>
            </a:r>
          </a:p>
        </p:txBody>
      </p:sp>
      <p:sp>
        <p:nvSpPr>
          <p:cNvPr id="173" name="Como reprogramar dinamicamente sua oferta e entregar exatamente o que seus leads querem comprar, transformando seu produto em algo praticamente irresistível."/>
          <p:cNvSpPr/>
          <p:nvPr>
            <p:ph type="body" idx="1"/>
          </p:nvPr>
        </p:nvSpPr>
        <p:spPr>
          <a:xfrm>
            <a:off x="2077695" y="2825229"/>
            <a:ext cx="20228611" cy="9646768"/>
          </a:xfrm>
          <a:prstGeom prst="rect">
            <a:avLst/>
          </a:prstGeom>
        </p:spPr>
        <p:txBody>
          <a:bodyPr/>
          <a:lstStyle/>
          <a:p>
            <a:pPr/>
            <a:r>
              <a:t>Como reprogramar dinamicamente sua oferta e entregar exatamente o que seus leads querem comprar, </a:t>
            </a:r>
            <a:r>
              <a:rPr b="1">
                <a:latin typeface="Helvetica"/>
                <a:ea typeface="Helvetica"/>
                <a:cs typeface="Helvetica"/>
                <a:sym typeface="Helvetica"/>
              </a:rPr>
              <a:t>transformando seu produto em algo praticamente irresistível.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7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173" grpId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Etapa 8: Visão Raio X"/>
          <p:cNvSpPr/>
          <p:nvPr>
            <p:ph type="title"/>
          </p:nvPr>
        </p:nvSpPr>
        <p:spPr>
          <a:xfrm>
            <a:off x="2186548" y="5953"/>
            <a:ext cx="20010904" cy="3036094"/>
          </a:xfrm>
          <a:prstGeom prst="rect">
            <a:avLst/>
          </a:prstGeom>
        </p:spPr>
        <p:txBody>
          <a:bodyPr/>
          <a:lstStyle/>
          <a:p>
            <a:pPr/>
            <a:r>
              <a:t>Etapa 8: Visão Raio X</a:t>
            </a:r>
          </a:p>
        </p:txBody>
      </p:sp>
      <p:sp>
        <p:nvSpPr>
          <p:cNvPr id="176" name="Como acompanhar e mensurar cada etapa do funil e saber exatamente de onde estão vindo as vendas e qual parte do funil está gerando as melhores conversões, podendo assim otimizá-lo ao nível máximo de resultado."/>
          <p:cNvSpPr/>
          <p:nvPr>
            <p:ph type="body" idx="1"/>
          </p:nvPr>
        </p:nvSpPr>
        <p:spPr>
          <a:xfrm>
            <a:off x="2077695" y="2825229"/>
            <a:ext cx="20228611" cy="9646768"/>
          </a:xfrm>
          <a:prstGeom prst="rect">
            <a:avLst/>
          </a:prstGeom>
        </p:spPr>
        <p:txBody>
          <a:bodyPr/>
          <a:lstStyle/>
          <a:p>
            <a:pPr/>
            <a:r>
              <a:t>Como acompanhar e mensurar cada etapa do funil e saber exatamente de onde estão vindo as vendas e qual parte do funil está gerando as melhores conversões, </a:t>
            </a:r>
            <a:r>
              <a:rPr b="1">
                <a:latin typeface="Helvetica"/>
                <a:ea typeface="Helvetica"/>
                <a:cs typeface="Helvetica"/>
                <a:sym typeface="Helvetica"/>
              </a:rPr>
              <a:t>podendo assim otimizá-lo ao nível máximo de resultado.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7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176" grpId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Você está recebendo o mapa completo do exato funil de vendas…"/>
          <p:cNvSpPr/>
          <p:nvPr>
            <p:ph type="title"/>
          </p:nvPr>
        </p:nvSpPr>
        <p:spPr>
          <a:xfrm>
            <a:off x="745694" y="3450179"/>
            <a:ext cx="22892612" cy="6815642"/>
          </a:xfrm>
          <a:prstGeom prst="rect">
            <a:avLst/>
          </a:prstGeom>
        </p:spPr>
        <p:txBody>
          <a:bodyPr/>
          <a:lstStyle>
            <a:lvl1pPr>
              <a:defRPr b="1" sz="145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Você está recebendo o mapa completo do exato funil de vendas…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…Que eu pessoalmente usei pra gerar R$ 341.183,00 apenas 90 dias"/>
          <p:cNvSpPr/>
          <p:nvPr>
            <p:ph type="title"/>
          </p:nvPr>
        </p:nvSpPr>
        <p:spPr>
          <a:xfrm>
            <a:off x="745694" y="3450179"/>
            <a:ext cx="22892612" cy="6815642"/>
          </a:xfrm>
          <a:prstGeom prst="rect">
            <a:avLst/>
          </a:prstGeom>
        </p:spPr>
        <p:txBody>
          <a:bodyPr/>
          <a:lstStyle/>
          <a:p>
            <a:pPr>
              <a:defRPr b="1" sz="12900">
                <a:latin typeface="Helvetica"/>
                <a:ea typeface="Helvetica"/>
                <a:cs typeface="Helvetica"/>
                <a:sym typeface="Helvetica"/>
              </a:defRPr>
            </a:pPr>
            <a:r>
              <a:t>…Que eu pessoalmente usei pra gerar </a:t>
            </a:r>
            <a:r>
              <a:rPr u="sng"/>
              <a:t>R$ 341.183,00</a:t>
            </a:r>
            <a:r>
              <a:t> apenas 90 dias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O preço?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144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O preço?</a:t>
            </a:r>
          </a:p>
        </p:txBody>
      </p:sp>
      <p:sp>
        <p:nvSpPr>
          <p:cNvPr id="183" name="Workshop Presencial de 2 dias - R$ 15.000…"/>
          <p:cNvSpPr/>
          <p:nvPr>
            <p:ph type="body" idx="1"/>
          </p:nvPr>
        </p:nvSpPr>
        <p:spPr>
          <a:xfrm>
            <a:off x="2737049" y="3661171"/>
            <a:ext cx="20365354" cy="8840392"/>
          </a:xfrm>
          <a:prstGeom prst="rect">
            <a:avLst/>
          </a:prstGeom>
        </p:spPr>
        <p:txBody>
          <a:bodyPr/>
          <a:lstStyle/>
          <a:p>
            <a:pPr>
              <a:defRPr sz="6400"/>
            </a:pPr>
            <a:r>
              <a:t>Workshop Presencial de 2 dias - R$ 15.000</a:t>
            </a:r>
          </a:p>
          <a:p>
            <a:pPr>
              <a:defRPr sz="6400"/>
            </a:pPr>
            <a:r>
              <a:t>Você vai ter acesso exatamente ao mesmo conteúdo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8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183" grpId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reço Oficial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144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Preço Oficial</a:t>
            </a:r>
          </a:p>
        </p:txBody>
      </p:sp>
      <p:sp>
        <p:nvSpPr>
          <p:cNvPr id="186" name="1ª Opção de pagamento: R$ 4.000,00…"/>
          <p:cNvSpPr/>
          <p:nvPr>
            <p:ph type="body" idx="1"/>
          </p:nvPr>
        </p:nvSpPr>
        <p:spPr>
          <a:xfrm>
            <a:off x="2737049" y="3661171"/>
            <a:ext cx="20365354" cy="8840392"/>
          </a:xfrm>
          <a:prstGeom prst="rect">
            <a:avLst/>
          </a:prstGeom>
        </p:spPr>
        <p:txBody>
          <a:bodyPr/>
          <a:lstStyle/>
          <a:p>
            <a:pPr>
              <a:defRPr sz="6400"/>
            </a:pPr>
            <a:r>
              <a:t>1ª Opção de pagamento: R$ 4.000,00</a:t>
            </a:r>
          </a:p>
          <a:p>
            <a:pPr>
              <a:defRPr sz="6400"/>
            </a:pPr>
            <a:r>
              <a:t>Ou em 12 vezes de R$ 389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8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186" grpId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Mas eu vou melhorar isso…"/>
          <p:cNvSpPr/>
          <p:nvPr>
            <p:ph type="title"/>
          </p:nvPr>
        </p:nvSpPr>
        <p:spPr>
          <a:xfrm>
            <a:off x="2790927" y="625078"/>
            <a:ext cx="18802146" cy="3036094"/>
          </a:xfrm>
          <a:prstGeom prst="rect">
            <a:avLst/>
          </a:prstGeom>
        </p:spPr>
        <p:txBody>
          <a:bodyPr/>
          <a:lstStyle>
            <a:lvl1pPr defTabSz="665440">
              <a:defRPr sz="11664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Mas eu vou melhorar isso…</a:t>
            </a:r>
          </a:p>
        </p:txBody>
      </p:sp>
      <p:sp>
        <p:nvSpPr>
          <p:cNvPr id="189" name="Especialmente neste lançamento: R$ 2997…"/>
          <p:cNvSpPr/>
          <p:nvPr>
            <p:ph type="body" idx="1"/>
          </p:nvPr>
        </p:nvSpPr>
        <p:spPr>
          <a:xfrm>
            <a:off x="2343332" y="3661171"/>
            <a:ext cx="20759071" cy="8840392"/>
          </a:xfrm>
          <a:prstGeom prst="rect">
            <a:avLst/>
          </a:prstGeom>
        </p:spPr>
        <p:txBody>
          <a:bodyPr/>
          <a:lstStyle/>
          <a:p>
            <a:pPr>
              <a:defRPr sz="6400"/>
            </a:pPr>
            <a:r>
              <a:t>Especialmente neste lançamento: R$ 2997</a:t>
            </a:r>
          </a:p>
          <a:p>
            <a:pPr>
              <a:defRPr sz="6400"/>
            </a:pPr>
            <a:r>
              <a:t>Ou você pode parcelar em até 12 vezes de R$ 291,99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8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189" grpId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O que fazer agora…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O que fazer agora…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Apenas os 10 primeiros…"/>
          <p:cNvSpPr/>
          <p:nvPr>
            <p:ph type="title"/>
          </p:nvPr>
        </p:nvSpPr>
        <p:spPr>
          <a:xfrm>
            <a:off x="2790927" y="625078"/>
            <a:ext cx="18802146" cy="3036094"/>
          </a:xfrm>
          <a:prstGeom prst="rect">
            <a:avLst/>
          </a:prstGeom>
        </p:spPr>
        <p:txBody>
          <a:bodyPr/>
          <a:lstStyle>
            <a:lvl1pPr defTabSz="722947">
              <a:defRPr sz="12672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Apenas os 10 primeiros…</a:t>
            </a:r>
          </a:p>
        </p:txBody>
      </p:sp>
      <p:sp>
        <p:nvSpPr>
          <p:cNvPr id="194" name="Funnel Clinic - Eu vou, pessoalmente, abrir o seu funil de vendas completo e vou avaliar todas as etapas do seu funil. Vou testar e validar cada uma delas e garantir que toda a configuração está correta."/>
          <p:cNvSpPr/>
          <p:nvPr>
            <p:ph type="body" idx="1"/>
          </p:nvPr>
        </p:nvSpPr>
        <p:spPr>
          <a:xfrm>
            <a:off x="2343332" y="3661171"/>
            <a:ext cx="20759071" cy="8840392"/>
          </a:xfrm>
          <a:prstGeom prst="rect">
            <a:avLst/>
          </a:prstGeom>
        </p:spPr>
        <p:txBody>
          <a:bodyPr/>
          <a:lstStyle/>
          <a:p>
            <a:pPr>
              <a:defRPr sz="6400"/>
            </a:pPr>
            <a:r>
              <a:rPr b="1">
                <a:latin typeface="Helvetica"/>
                <a:ea typeface="Helvetica"/>
                <a:cs typeface="Helvetica"/>
                <a:sym typeface="Helvetica"/>
              </a:rPr>
              <a:t>Funnel Clinic</a:t>
            </a:r>
            <a:r>
              <a:t> - Eu vou, pessoalmente, abrir o seu funil de vendas completo e vou avaliar todas as etapas do seu funil. Vou testar e validar cada uma delas e garantir que toda a configuração está correta.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9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194" grpId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Aumentar Faturamento em até 10 vezes de forma Consistente"/>
          <p:cNvSpPr/>
          <p:nvPr>
            <p:ph type="title"/>
          </p:nvPr>
        </p:nvSpPr>
        <p:spPr>
          <a:xfrm>
            <a:off x="745694" y="3450179"/>
            <a:ext cx="22892612" cy="6815642"/>
          </a:xfrm>
          <a:prstGeom prst="rect">
            <a:avLst/>
          </a:prstGeom>
        </p:spPr>
        <p:txBody>
          <a:bodyPr/>
          <a:lstStyle>
            <a:lvl1pPr>
              <a:defRPr sz="120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Aumentar Faturamento em até 10 vezes de forma Consistente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Maquina automática que gere vendas Todos os Dias"/>
          <p:cNvSpPr/>
          <p:nvPr>
            <p:ph type="title"/>
          </p:nvPr>
        </p:nvSpPr>
        <p:spPr>
          <a:xfrm>
            <a:off x="745694" y="3450179"/>
            <a:ext cx="22892612" cy="6815642"/>
          </a:xfrm>
          <a:prstGeom prst="rect">
            <a:avLst/>
          </a:prstGeom>
        </p:spPr>
        <p:txBody>
          <a:bodyPr/>
          <a:lstStyle/>
          <a:p>
            <a:pPr>
              <a:defRPr b="1" sz="14500">
                <a:latin typeface="Helvetica"/>
                <a:ea typeface="Helvetica"/>
                <a:cs typeface="Helvetica"/>
                <a:sym typeface="Helvetica"/>
              </a:defRPr>
            </a:pPr>
            <a:r>
              <a:rPr b="0"/>
              <a:t>Maquina automática que gere vendas </a:t>
            </a:r>
            <a:r>
              <a:t>Todos os Dias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Construir Autoridade"/>
          <p:cNvSpPr/>
          <p:nvPr>
            <p:ph type="title"/>
          </p:nvPr>
        </p:nvSpPr>
        <p:spPr>
          <a:xfrm>
            <a:off x="745694" y="3450179"/>
            <a:ext cx="22892612" cy="6815642"/>
          </a:xfrm>
          <a:prstGeom prst="rect">
            <a:avLst/>
          </a:prstGeom>
        </p:spPr>
        <p:txBody>
          <a:bodyPr/>
          <a:lstStyle>
            <a:lvl1pPr>
              <a:defRPr b="1" sz="145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Construir Autoridade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iloto Automático…"/>
          <p:cNvSpPr/>
          <p:nvPr>
            <p:ph type="title"/>
          </p:nvPr>
        </p:nvSpPr>
        <p:spPr>
          <a:xfrm>
            <a:off x="745694" y="3450179"/>
            <a:ext cx="22892612" cy="6815642"/>
          </a:xfrm>
          <a:prstGeom prst="rect">
            <a:avLst/>
          </a:prstGeom>
        </p:spPr>
        <p:txBody>
          <a:bodyPr/>
          <a:lstStyle>
            <a:lvl1pPr>
              <a:defRPr b="1" sz="145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Piloto Automático…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O Funil 10x é Especificamente Pra Você!!!"/>
          <p:cNvSpPr/>
          <p:nvPr>
            <p:ph type="title"/>
          </p:nvPr>
        </p:nvSpPr>
        <p:spPr>
          <a:xfrm>
            <a:off x="745694" y="3450179"/>
            <a:ext cx="22892612" cy="6815642"/>
          </a:xfrm>
          <a:prstGeom prst="rect">
            <a:avLst/>
          </a:prstGeom>
        </p:spPr>
        <p:txBody>
          <a:bodyPr/>
          <a:lstStyle>
            <a:lvl1pPr>
              <a:defRPr b="1" sz="130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O Funil 10x é Especificamente Pra Você!!!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Mas eu vou melhorar mais…"/>
          <p:cNvSpPr/>
          <p:nvPr>
            <p:ph type="title"/>
          </p:nvPr>
        </p:nvSpPr>
        <p:spPr>
          <a:xfrm>
            <a:off x="2790927" y="5339953"/>
            <a:ext cx="18802146" cy="3036094"/>
          </a:xfrm>
          <a:prstGeom prst="rect">
            <a:avLst/>
          </a:prstGeom>
        </p:spPr>
        <p:txBody>
          <a:bodyPr/>
          <a:lstStyle>
            <a:lvl1pPr defTabSz="649009">
              <a:defRPr sz="11376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Mas eu vou melhorar mais…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InfoMilionário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InfoMilionário</a:t>
            </a:r>
          </a:p>
        </p:txBody>
      </p:sp>
      <p:sp>
        <p:nvSpPr>
          <p:cNvPr id="209" name="Treinamento completo que vai te ensinar como construir um Infoproduto com potencial de faturamento milionário…"/>
          <p:cNvSpPr/>
          <p:nvPr>
            <p:ph type="body" idx="1"/>
          </p:nvPr>
        </p:nvSpPr>
        <p:spPr>
          <a:xfrm>
            <a:off x="2205547" y="3661171"/>
            <a:ext cx="19972906" cy="8840392"/>
          </a:xfrm>
          <a:prstGeom prst="rect">
            <a:avLst/>
          </a:prstGeom>
        </p:spPr>
        <p:txBody>
          <a:bodyPr/>
          <a:lstStyle/>
          <a:p>
            <a:pPr marL="0" indent="0" algn="ctr">
              <a:buSzTx/>
              <a:buNone/>
              <a:defRPr sz="6400"/>
            </a:pPr>
            <a:r>
              <a:t>Treinamento completo que vai te ensinar </a:t>
            </a:r>
            <a:r>
              <a:rPr b="1">
                <a:latin typeface="Helvetica"/>
                <a:ea typeface="Helvetica"/>
                <a:cs typeface="Helvetica"/>
                <a:sym typeface="Helvetica"/>
              </a:rPr>
              <a:t>como construir um Infoproduto com potencial de faturamento milionário</a:t>
            </a:r>
          </a:p>
          <a:p>
            <a:pPr marL="0" indent="0" algn="ctr">
              <a:buSzTx/>
              <a:buNone/>
              <a:defRPr b="1" sz="6400">
                <a:solidFill>
                  <a:srgbClr val="FF26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R$ 3.000,00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0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2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209" grpId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op Landing Pages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Top Landing Pages</a:t>
            </a:r>
          </a:p>
        </p:txBody>
      </p:sp>
      <p:sp>
        <p:nvSpPr>
          <p:cNvPr id="212" name="Nós realizamos dezenas de testes pra criar as páginas com maior taxa de conversão no funil. Agora elas serão suas. Todas as páginas do funil à sua disposição… Você não vai precisar criar nenhuma página do funil se você não quiser."/>
          <p:cNvSpPr/>
          <p:nvPr>
            <p:ph type="body" idx="1"/>
          </p:nvPr>
        </p:nvSpPr>
        <p:spPr>
          <a:xfrm>
            <a:off x="2205547" y="3661171"/>
            <a:ext cx="19972906" cy="8840392"/>
          </a:xfrm>
          <a:prstGeom prst="rect">
            <a:avLst/>
          </a:prstGeom>
        </p:spPr>
        <p:txBody>
          <a:bodyPr/>
          <a:lstStyle/>
          <a:p>
            <a:pPr marL="0" indent="0" algn="ctr">
              <a:buSzTx/>
              <a:buNone/>
              <a:defRPr sz="6400"/>
            </a:pPr>
            <a:r>
              <a:t>Nós realizamos dezenas de testes pra criar as páginas com maior taxa de conversão no funil. Agora elas serão suas. Todas as páginas do funil à sua disposição… </a:t>
            </a:r>
            <a:r>
              <a:rPr b="1">
                <a:latin typeface="Helvetica"/>
                <a:ea typeface="Helvetica"/>
                <a:cs typeface="Helvetica"/>
                <a:sym typeface="Helvetica"/>
              </a:rPr>
              <a:t>Você não vai precisar criar nenhuma página do funil se você não quiser</a:t>
            </a:r>
            <a:r>
              <a:t>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Emails que Convertem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Emails que Convertem</a:t>
            </a:r>
          </a:p>
        </p:txBody>
      </p:sp>
      <p:sp>
        <p:nvSpPr>
          <p:cNvPr id="215" name="Os exatos e-mails que nós usamos dentro do nosso funil, testados e aprovados nos melhores resultados de abertura e conversão. Isso vai te poupar muito tempo e trabalho de copy, além de garantir o melhor resultado com seu funil."/>
          <p:cNvSpPr/>
          <p:nvPr>
            <p:ph type="body" idx="1"/>
          </p:nvPr>
        </p:nvSpPr>
        <p:spPr>
          <a:xfrm>
            <a:off x="2205547" y="3661171"/>
            <a:ext cx="19972906" cy="8840392"/>
          </a:xfrm>
          <a:prstGeom prst="rect">
            <a:avLst/>
          </a:prstGeom>
        </p:spPr>
        <p:txBody>
          <a:bodyPr/>
          <a:lstStyle/>
          <a:p>
            <a:pPr marL="0" indent="0" algn="ctr">
              <a:buSzTx/>
              <a:buNone/>
              <a:defRPr sz="6400"/>
            </a:pPr>
            <a:r>
              <a:t>Os exatos e-mails que nós usamos dentro do nosso funil, testados e aprovados nos melhores resultados de abertura e conversão. </a:t>
            </a:r>
            <a:r>
              <a:rPr b="1">
                <a:latin typeface="Helvetica"/>
                <a:ea typeface="Helvetica"/>
                <a:cs typeface="Helvetica"/>
                <a:sym typeface="Helvetica"/>
              </a:rPr>
              <a:t>Isso vai te poupar muito tempo e trabalho de copy, além de garantir o melhor resultado com seu funil.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Facebook Racks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Facebook Racks</a:t>
            </a:r>
          </a:p>
        </p:txBody>
      </p:sp>
      <p:sp>
        <p:nvSpPr>
          <p:cNvPr id="218" name="Mini curso com Felipe Moreira revelando todos os segredos pra escalar qualquer campanha no Facebook e alcançar um ROI inimaginável."/>
          <p:cNvSpPr/>
          <p:nvPr>
            <p:ph type="body" idx="1"/>
          </p:nvPr>
        </p:nvSpPr>
        <p:spPr>
          <a:xfrm>
            <a:off x="2205547" y="3661171"/>
            <a:ext cx="19972906" cy="8840392"/>
          </a:xfrm>
          <a:prstGeom prst="rect">
            <a:avLst/>
          </a:prstGeom>
        </p:spPr>
        <p:txBody>
          <a:bodyPr/>
          <a:lstStyle/>
          <a:p>
            <a:pPr marL="0" indent="0" algn="ctr">
              <a:buSzTx/>
              <a:buNone/>
              <a:defRPr sz="6400"/>
            </a:pPr>
            <a:r>
              <a:t>Mini curso com Felipe Moreira revelando todos os segredos pra </a:t>
            </a:r>
            <a:r>
              <a:rPr b="1">
                <a:latin typeface="Helvetica"/>
                <a:ea typeface="Helvetica"/>
                <a:cs typeface="Helvetica"/>
                <a:sym typeface="Helvetica"/>
              </a:rPr>
              <a:t>escalar qualquer campanha no Facebook e alcançar um ROI inimaginável</a:t>
            </a:r>
            <a:r>
              <a:t>.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1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218" grpId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Comunidade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Comunidade</a:t>
            </a:r>
          </a:p>
        </p:txBody>
      </p:sp>
      <p:sp>
        <p:nvSpPr>
          <p:cNvPr id="221" name="Você é a média das pessoas com as quais se relaciona. Por isso nós vamos te colocar em contato com diversos outros players dos mais variados nichos que faturam de 6 a 7 dígitos em seus negócios."/>
          <p:cNvSpPr/>
          <p:nvPr>
            <p:ph type="body" idx="1"/>
          </p:nvPr>
        </p:nvSpPr>
        <p:spPr>
          <a:xfrm>
            <a:off x="1836025" y="3661171"/>
            <a:ext cx="20711950" cy="8840392"/>
          </a:xfrm>
          <a:prstGeom prst="rect">
            <a:avLst/>
          </a:prstGeom>
        </p:spPr>
        <p:txBody>
          <a:bodyPr/>
          <a:lstStyle/>
          <a:p>
            <a:pPr marL="0" indent="0" algn="ctr">
              <a:buSzTx/>
              <a:buNone/>
              <a:defRPr sz="6400"/>
            </a:pPr>
            <a:r>
              <a:t>Você é a média das pessoas com as quais se relaciona. Por isso nós vamos te colocar em </a:t>
            </a:r>
            <a:r>
              <a:rPr b="1">
                <a:latin typeface="Helvetica"/>
                <a:ea typeface="Helvetica"/>
                <a:cs typeface="Helvetica"/>
                <a:sym typeface="Helvetica"/>
              </a:rPr>
              <a:t>contato com diversos outros players dos mais variados nichos que faturam de 6 a 7 dígitos em seus negócios</a:t>
            </a:r>
            <a:r>
              <a:t>.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2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221" grpId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Será que ainda dá pra melhorar???"/>
          <p:cNvSpPr/>
          <p:nvPr>
            <p:ph type="title"/>
          </p:nvPr>
        </p:nvSpPr>
        <p:spPr>
          <a:xfrm>
            <a:off x="458244" y="477246"/>
            <a:ext cx="23467513" cy="3036095"/>
          </a:xfrm>
          <a:prstGeom prst="rect">
            <a:avLst/>
          </a:prstGeom>
        </p:spPr>
        <p:txBody>
          <a:bodyPr/>
          <a:lstStyle>
            <a:lvl1pPr defTabSz="796885">
              <a:defRPr b="1" sz="10864">
                <a:solidFill>
                  <a:schemeClr val="accent5">
                    <a:hueOff val="-522602"/>
                    <a:satOff val="-6700"/>
                    <a:lumOff val="-22320"/>
                  </a:schemeClr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Será que ainda dá pra melhorar???</a:t>
            </a:r>
          </a:p>
        </p:txBody>
      </p:sp>
      <p:sp>
        <p:nvSpPr>
          <p:cNvPr id="224" name="Garantia Especial de Lançamento…"/>
          <p:cNvSpPr/>
          <p:nvPr>
            <p:ph type="body" idx="1"/>
          </p:nvPr>
        </p:nvSpPr>
        <p:spPr>
          <a:xfrm>
            <a:off x="2205547" y="3661171"/>
            <a:ext cx="19972906" cy="8840392"/>
          </a:xfrm>
          <a:prstGeom prst="rect">
            <a:avLst/>
          </a:prstGeom>
        </p:spPr>
        <p:txBody>
          <a:bodyPr/>
          <a:lstStyle/>
          <a:p>
            <a:pPr marL="0" indent="0" algn="ctr">
              <a:buSzTx/>
              <a:buNone/>
              <a:defRPr b="1" sz="8500">
                <a:latin typeface="Helvetica"/>
                <a:ea typeface="Helvetica"/>
                <a:cs typeface="Helvetica"/>
                <a:sym typeface="Helvetica"/>
              </a:defRPr>
            </a:pPr>
            <a:r>
              <a:t>Garantia Especial de Lançamento</a:t>
            </a:r>
          </a:p>
          <a:p>
            <a:pPr marL="0" indent="0" algn="ctr">
              <a:buSzTx/>
              <a:buNone/>
              <a:defRPr sz="6500"/>
            </a:pPr>
            <a:r>
              <a:t>Garantia incondicional</a:t>
            </a:r>
          </a:p>
          <a:p>
            <a:pPr marL="0" indent="0" algn="ctr">
              <a:buSzTx/>
              <a:buNone/>
              <a:defRPr sz="6500"/>
            </a:pPr>
            <a:r>
              <a:t>30 dias</a:t>
            </a:r>
          </a:p>
          <a:p>
            <a:pPr marL="0" indent="0" algn="ctr">
              <a:buSzTx/>
              <a:buNone/>
              <a:defRPr sz="6500"/>
            </a:pPr>
            <a:r>
              <a:t>Você fica com os bônus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2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2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2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224" grpId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Recapitulando"/>
          <p:cNvSpPr/>
          <p:nvPr>
            <p:ph type="title"/>
          </p:nvPr>
        </p:nvSpPr>
        <p:spPr>
          <a:xfrm>
            <a:off x="4387453" y="5953"/>
            <a:ext cx="15609094" cy="3036094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Recapitulando</a:t>
            </a:r>
          </a:p>
        </p:txBody>
      </p:sp>
      <p:sp>
        <p:nvSpPr>
          <p:cNvPr id="227" name="Treinamento Funil 10x…"/>
          <p:cNvSpPr/>
          <p:nvPr>
            <p:ph type="body" idx="1"/>
          </p:nvPr>
        </p:nvSpPr>
        <p:spPr>
          <a:xfrm>
            <a:off x="4387453" y="3069844"/>
            <a:ext cx="15609094" cy="10159329"/>
          </a:xfrm>
          <a:prstGeom prst="rect">
            <a:avLst/>
          </a:prstGeom>
        </p:spPr>
        <p:txBody>
          <a:bodyPr/>
          <a:lstStyle/>
          <a:p>
            <a:pPr/>
            <a:r>
              <a:t>Treinamento Funil 10x</a:t>
            </a:r>
          </a:p>
          <a:p>
            <a:pPr/>
            <a:r>
              <a:t>Funnel Clinic para os 20 Primeiros</a:t>
            </a:r>
          </a:p>
          <a:p>
            <a:pPr/>
            <a:r>
              <a:t>Bonus #1: InfoMilionário</a:t>
            </a:r>
          </a:p>
          <a:p>
            <a:pPr/>
            <a:r>
              <a:t>Bonus #2: Top Landing Pages</a:t>
            </a:r>
          </a:p>
          <a:p>
            <a:pPr/>
            <a:r>
              <a:t>Bonus #3: Emails que Convertem</a:t>
            </a:r>
          </a:p>
          <a:p>
            <a:pPr/>
            <a:r>
              <a:t>Bonus #4: Facebook Racks</a:t>
            </a:r>
          </a:p>
          <a:p>
            <a:pPr/>
            <a:r>
              <a:t>Bonus #5: Acesso à Comunidade 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2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2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2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227" grpId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Recapitulando"/>
          <p:cNvSpPr/>
          <p:nvPr>
            <p:ph type="title"/>
          </p:nvPr>
        </p:nvSpPr>
        <p:spPr>
          <a:xfrm>
            <a:off x="4387453" y="5953"/>
            <a:ext cx="15609094" cy="3036094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Recapitulando</a:t>
            </a:r>
          </a:p>
        </p:txBody>
      </p:sp>
      <p:sp>
        <p:nvSpPr>
          <p:cNvPr id="230" name="Desconto especial de lançamento.…"/>
          <p:cNvSpPr/>
          <p:nvPr>
            <p:ph type="body" idx="1"/>
          </p:nvPr>
        </p:nvSpPr>
        <p:spPr>
          <a:xfrm>
            <a:off x="4387453" y="3069844"/>
            <a:ext cx="15609094" cy="10159329"/>
          </a:xfrm>
          <a:prstGeom prst="rect">
            <a:avLst/>
          </a:prstGeom>
        </p:spPr>
        <p:txBody>
          <a:bodyPr/>
          <a:lstStyle/>
          <a:p>
            <a:pPr/>
            <a:r>
              <a:t>Desconto especial de lançamento.</a:t>
            </a:r>
          </a:p>
          <a:p>
            <a:pPr/>
            <a:r>
              <a:t>Ao invés de R$ 4.000,00</a:t>
            </a:r>
          </a:p>
          <a:p>
            <a:pPr/>
            <a:r>
              <a:t>Apenas R$ 2997 ou 12x R$ 291,99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3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2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230" grpId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Recapitulando"/>
          <p:cNvSpPr/>
          <p:nvPr>
            <p:ph type="title"/>
          </p:nvPr>
        </p:nvSpPr>
        <p:spPr>
          <a:xfrm>
            <a:off x="4387453" y="5953"/>
            <a:ext cx="15609094" cy="3036094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Recapitulando</a:t>
            </a:r>
          </a:p>
        </p:txBody>
      </p:sp>
      <p:sp>
        <p:nvSpPr>
          <p:cNvPr id="233" name="Garantia especial de lançamento…"/>
          <p:cNvSpPr/>
          <p:nvPr>
            <p:ph type="body" idx="1"/>
          </p:nvPr>
        </p:nvSpPr>
        <p:spPr>
          <a:xfrm>
            <a:off x="4387453" y="3069844"/>
            <a:ext cx="15609094" cy="10159329"/>
          </a:xfrm>
          <a:prstGeom prst="rect">
            <a:avLst/>
          </a:prstGeom>
        </p:spPr>
        <p:txBody>
          <a:bodyPr/>
          <a:lstStyle/>
          <a:p>
            <a:pPr/>
            <a:r>
              <a:t>Garantia especial de lançamento</a:t>
            </a:r>
          </a:p>
          <a:p>
            <a:pPr/>
            <a:r>
              <a:t>30 dias de garantia + fica com os bônus.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3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2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233" grpId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ATENÇÃO:…"/>
          <p:cNvSpPr/>
          <p:nvPr>
            <p:ph type="title"/>
          </p:nvPr>
        </p:nvSpPr>
        <p:spPr>
          <a:xfrm>
            <a:off x="745694" y="3450179"/>
            <a:ext cx="22892612" cy="6815642"/>
          </a:xfrm>
          <a:prstGeom prst="rect">
            <a:avLst/>
          </a:prstGeom>
        </p:spPr>
        <p:txBody>
          <a:bodyPr/>
          <a:lstStyle/>
          <a:p>
            <a:pPr>
              <a:defRPr b="1" sz="13000">
                <a:solidFill>
                  <a:schemeClr val="accent5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ATENÇÃO:</a:t>
            </a:r>
          </a:p>
          <a:p>
            <a:pPr>
              <a:defRPr b="1" sz="11000">
                <a:solidFill>
                  <a:srgbClr val="FF26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As Inscrições Encerram Amanhã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Você assistiu esta apresentação até aqui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616148">
              <a:defRPr b="1" sz="10800">
                <a:solidFill>
                  <a:schemeClr val="accent1">
                    <a:hueOff val="273562"/>
                    <a:satOff val="2937"/>
                    <a:lumOff val="-22233"/>
                  </a:schemeClr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Você assistiu esta apresentação até aqui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E você quer um funil capaz de gerar toneladas de vendas pro seu negócio"/>
          <p:cNvSpPr/>
          <p:nvPr>
            <p:ph type="title"/>
          </p:nvPr>
        </p:nvSpPr>
        <p:spPr>
          <a:xfrm>
            <a:off x="1891853" y="4536281"/>
            <a:ext cx="20600294" cy="4643438"/>
          </a:xfrm>
          <a:prstGeom prst="rect">
            <a:avLst/>
          </a:prstGeom>
        </p:spPr>
        <p:txBody>
          <a:bodyPr/>
          <a:lstStyle>
            <a:lvl1pPr defTabSz="558641">
              <a:defRPr b="1" sz="9792">
                <a:solidFill>
                  <a:schemeClr val="accent1">
                    <a:hueOff val="273562"/>
                    <a:satOff val="2937"/>
                    <a:lumOff val="-22233"/>
                  </a:schemeClr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E você quer um funil capaz de gerar toneladas de vendas pro seu negócio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Você sabe o valor disso que eu estou te falando"/>
          <p:cNvSpPr/>
          <p:nvPr>
            <p:ph type="title"/>
          </p:nvPr>
        </p:nvSpPr>
        <p:spPr>
          <a:xfrm>
            <a:off x="1891853" y="4536281"/>
            <a:ext cx="20600294" cy="4643438"/>
          </a:xfrm>
          <a:prstGeom prst="rect">
            <a:avLst/>
          </a:prstGeom>
        </p:spPr>
        <p:txBody>
          <a:bodyPr/>
          <a:lstStyle>
            <a:lvl1pPr defTabSz="805100">
              <a:defRPr b="1" sz="14112">
                <a:solidFill>
                  <a:schemeClr val="accent1">
                    <a:hueOff val="273562"/>
                    <a:satOff val="2937"/>
                    <a:lumOff val="-22233"/>
                  </a:schemeClr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Você sabe o valor disso que eu estou te falando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Vá em frente e clique no botão aqui ao lado e aproveite…"/>
          <p:cNvSpPr/>
          <p:nvPr>
            <p:ph type="title"/>
          </p:nvPr>
        </p:nvSpPr>
        <p:spPr>
          <a:xfrm>
            <a:off x="1891853" y="4536281"/>
            <a:ext cx="20600294" cy="4643438"/>
          </a:xfrm>
          <a:prstGeom prst="rect">
            <a:avLst/>
          </a:prstGeom>
        </p:spPr>
        <p:txBody>
          <a:bodyPr/>
          <a:lstStyle>
            <a:lvl1pPr defTabSz="632579">
              <a:defRPr b="1" sz="11088">
                <a:solidFill>
                  <a:schemeClr val="accent1">
                    <a:hueOff val="273562"/>
                    <a:satOff val="2937"/>
                    <a:lumOff val="-22233"/>
                  </a:schemeClr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Vá em frente e clique no botão aqui ao lado e aproveite…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Desconto Especial"/>
          <p:cNvSpPr/>
          <p:nvPr>
            <p:ph type="title"/>
          </p:nvPr>
        </p:nvSpPr>
        <p:spPr>
          <a:xfrm>
            <a:off x="1891853" y="4536281"/>
            <a:ext cx="20600294" cy="4643438"/>
          </a:xfrm>
          <a:prstGeom prst="rect">
            <a:avLst/>
          </a:prstGeom>
        </p:spPr>
        <p:txBody>
          <a:bodyPr/>
          <a:lstStyle>
            <a:lvl1pPr>
              <a:defRPr b="1" sz="14400">
                <a:solidFill>
                  <a:schemeClr val="accent1">
                    <a:hueOff val="273562"/>
                    <a:satOff val="2937"/>
                    <a:lumOff val="-22233"/>
                  </a:schemeClr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Desconto Especial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Os Bônus Incríveis desse Lançamento"/>
          <p:cNvSpPr/>
          <p:nvPr>
            <p:ph type="title"/>
          </p:nvPr>
        </p:nvSpPr>
        <p:spPr>
          <a:xfrm>
            <a:off x="1891853" y="4536281"/>
            <a:ext cx="20600294" cy="4643438"/>
          </a:xfrm>
          <a:prstGeom prst="rect">
            <a:avLst/>
          </a:prstGeom>
        </p:spPr>
        <p:txBody>
          <a:bodyPr/>
          <a:lstStyle>
            <a:lvl1pPr>
              <a:defRPr b="1" sz="14400">
                <a:solidFill>
                  <a:schemeClr val="accent1">
                    <a:hueOff val="273562"/>
                    <a:satOff val="2937"/>
                    <a:lumOff val="-22233"/>
                  </a:schemeClr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Os Bônus Incríveis desse Lançamento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A super garantia que ninguém nunca teve coragem de fazer"/>
          <p:cNvSpPr/>
          <p:nvPr>
            <p:ph type="title"/>
          </p:nvPr>
        </p:nvSpPr>
        <p:spPr>
          <a:xfrm>
            <a:off x="1891853" y="4536281"/>
            <a:ext cx="20600294" cy="4643438"/>
          </a:xfrm>
          <a:prstGeom prst="rect">
            <a:avLst/>
          </a:prstGeom>
        </p:spPr>
        <p:txBody>
          <a:bodyPr/>
          <a:lstStyle>
            <a:lvl1pPr defTabSz="632579">
              <a:defRPr b="1" sz="11088">
                <a:solidFill>
                  <a:schemeClr val="accent1">
                    <a:hueOff val="273562"/>
                    <a:satOff val="2937"/>
                    <a:lumOff val="-22233"/>
                  </a:schemeClr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A super garantia que ninguém nunca teve coragem de fazer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_rels/theme1.xml.rels><?xml version="1.0" encoding="UTF-8" standalone="yes"?><Relationships xmlns="http://schemas.openxmlformats.org/package/2006/relationships"><Relationship Id="rId1" Type="http://schemas.openxmlformats.org/officeDocument/2006/relationships/image" Target="../media/image1.png"/></Relationships>

</file>

<file path=ppt/theme/_rels/theme2.xml.rels><?xml version="1.0" encoding="UTF-8" standalone="yes"?><Relationships xmlns="http://schemas.openxmlformats.org/package/2006/relationships"><Relationship Id="rId1" Type="http://schemas.openxmlformats.org/officeDocument/2006/relationships/image" Target="../media/image1.png"/></Relationships>
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50800" dist="25400" dir="5400000">
              <a:srgbClr val="000000">
                <a:alpha val="50000"/>
              </a:srgbClr>
            </a:outerShdw>
          </a:effectLst>
        </a:effectStyle>
        <a:effectStyle>
          <a:effectLst>
            <a:outerShdw sx="100000" sy="100000" kx="0" ky="0" algn="b" rotWithShape="0" blurRad="63500" dist="12700" dir="0">
              <a:srgbClr val="000000">
                <a:alpha val="50000"/>
              </a:srgbClr>
            </a:outerShdw>
          </a:effectLst>
        </a:effectStyle>
        <a:effectStyle>
          <a:effectLst>
            <a:outerShdw sx="100000" sy="100000" kx="0" ky="0" algn="b" rotWithShape="0" blurRad="50800" dist="25400" dir="540000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r:embed="rId1"/>
          <a:srcRect l="0" t="0" r="0" b="0"/>
          <a:tile tx="0" ty="0" sx="100000" sy="100000" flip="none" algn="tl"/>
        </a:blipFill>
        <a:ln w="12700" cap="flat">
          <a:noFill/>
          <a:miter lim="400000"/>
        </a:ln>
        <a:effectLst>
          <a:outerShdw sx="100000" sy="100000" kx="0" ky="0" algn="b" rotWithShape="0" blurRad="50800" dist="25400" dir="540000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71437" tIns="71437" rIns="71437" bIns="71437" numCol="1" spcCol="38100" rtlCol="0" anchor="ctr" upright="0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 upright="0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5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50800" dist="25400" dir="5400000">
              <a:srgbClr val="000000">
                <a:alpha val="50000"/>
              </a:srgbClr>
            </a:outerShdw>
          </a:effectLst>
        </a:effectStyle>
        <a:effectStyle>
          <a:effectLst>
            <a:outerShdw sx="100000" sy="100000" kx="0" ky="0" algn="b" rotWithShape="0" blurRad="63500" dist="12700" dir="0">
              <a:srgbClr val="000000">
                <a:alpha val="50000"/>
              </a:srgbClr>
            </a:outerShdw>
          </a:effectLst>
        </a:effectStyle>
        <a:effectStyle>
          <a:effectLst>
            <a:outerShdw sx="100000" sy="100000" kx="0" ky="0" algn="b" rotWithShape="0" blurRad="50800" dist="25400" dir="540000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r:embed="rId1"/>
          <a:srcRect l="0" t="0" r="0" b="0"/>
          <a:tile tx="0" ty="0" sx="100000" sy="100000" flip="none" algn="tl"/>
        </a:blipFill>
        <a:ln w="12700" cap="flat">
          <a:noFill/>
          <a:miter lim="400000"/>
        </a:ln>
        <a:effectLst>
          <a:outerShdw sx="100000" sy="100000" kx="0" ky="0" algn="b" rotWithShape="0" blurRad="50800" dist="25400" dir="540000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71437" tIns="71437" rIns="71437" bIns="71437" numCol="1" spcCol="38100" rtlCol="0" anchor="ctr" upright="0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 upright="0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5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